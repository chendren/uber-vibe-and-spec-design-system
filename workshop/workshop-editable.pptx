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2000"/>
          </a:blip>
          <a:stretch>
            <a:fillRect/>
          </a:stretch>
        </p:blipFill>
        <p:spPr>
          <a:xfrm>
            <a:off x="6381750" y="-666750"/>
            <a:ext cx="6667500" cy="38893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800100"/>
            <a:ext cx="438150" cy="4381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821085"/>
            <a:ext cx="9146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spc="-15" kern="0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Uber Vibe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1371600" y="1073497"/>
            <a:ext cx="914698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spc="126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 SPEC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800100" y="1908200"/>
            <a:ext cx="109095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80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WORKSHOP · FULL DAY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800100" y="2332062"/>
            <a:ext cx="10909554" cy="197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0" spc="-234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vibe to spec.</a:t>
            </a: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800100" y="4521175"/>
            <a:ext cx="76523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hands-on day building real software with Claude Code — from feeling your way to a demo, to shipping with a spec.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800100" y="5857875"/>
            <a:ext cx="23965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2924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101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Live cohort 16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444329" y="5857875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modules · ~6 hours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871695" y="5857875"/>
            <a:ext cx="15964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ubervibeandspec.com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WELCOME · THE PROMISE OF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65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By tonight, you'll drive Claude through a whole feature.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3191694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3258369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3172644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Start by feel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3482206"/>
            <a:ext cx="5220469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to Claude in plain language and watch a real change land in a real codebase.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4170834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237509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4151784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Get efficient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4461346"/>
            <a:ext cx="4758827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 how context and tokens actually work, so your results get sharper and cheaper.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5149974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5216649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5130924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Ship with a spec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5440487"/>
            <a:ext cx="4966309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Plan, constrain, test — and hand Claude the autonomy to finish the job.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3172644"/>
            <a:ext cx="4526235" cy="1571625"/>
          </a:xfrm>
          <a:prstGeom prst="roundRect">
            <a:avLst>
              <a:gd name="adj" fmla="val 10909"/>
            </a:avLst>
          </a:prstGeom>
          <a:solidFill>
            <a:srgbClr val="F5E4DA"/>
          </a:solidFill>
          <a:ln w="9525">
            <a:solidFill>
              <a:srgbClr val="EBC6B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3439344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3439344"/>
            <a:ext cx="13449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833A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THIS IS FOR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715569"/>
            <a:ext cx="41322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Working developers, whole teams, and curious beginners alike. No part of today assumes you've done this before — only that you want to build.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223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TWO MODES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1223" y="1114425"/>
            <a:ext cx="109095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750" spc="-94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Vibe and Spec, side by side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00100" y="2052637"/>
            <a:ext cx="4874865" cy="3215283"/>
          </a:xfrm>
          <a:prstGeom prst="roundRect">
            <a:avLst>
              <a:gd name="adj" fmla="val 8295"/>
            </a:avLst>
          </a:prstGeom>
          <a:solidFill>
            <a:srgbClr val="FAF3EF"/>
          </a:solidFill>
          <a:ln w="14288">
            <a:solidFill>
              <a:srgbClr val="EBC6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338" y="242887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C25F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2557463"/>
            <a:ext cx="257175" cy="2571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6338" y="3095625"/>
            <a:ext cx="42460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37" kern="0" dirty="0">
                <a:solidFill>
                  <a:srgbClr val="833A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176338" y="3433763"/>
            <a:ext cx="4246062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25" spc="-46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 it by feel</a:t>
            </a:r>
            <a:endParaRPr lang="en-US" sz="23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8" y="3962177"/>
            <a:ext cx="180975" cy="180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71613" y="3947889"/>
            <a:ext cx="253811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Explore fast, discover the shape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8" y="4316462"/>
            <a:ext cx="180975" cy="1809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71613" y="4302175"/>
            <a:ext cx="204445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Converse, prompt, iterate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8" y="4670747"/>
            <a:ext cx="180975" cy="1809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71613" y="4656460"/>
            <a:ext cx="254168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Best for prototypes &amp; unknowns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884515" y="2052637"/>
            <a:ext cx="422895" cy="3253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75" i="1" dirty="0">
                <a:solidFill>
                  <a:srgbClr val="A69C8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and</a:t>
            </a:r>
            <a:endParaRPr lang="en-US" sz="1875" dirty="0"/>
          </a:p>
        </p:txBody>
      </p:sp>
      <p:sp>
        <p:nvSpPr>
          <p:cNvPr id="16" name="Shape 10"/>
          <p:cNvSpPr/>
          <p:nvPr/>
        </p:nvSpPr>
        <p:spPr>
          <a:xfrm>
            <a:off x="6516960" y="2052637"/>
            <a:ext cx="4874940" cy="3215283"/>
          </a:xfrm>
          <a:prstGeom prst="roundRect">
            <a:avLst>
              <a:gd name="adj" fmla="val 8295"/>
            </a:avLst>
          </a:prstGeom>
          <a:solidFill>
            <a:srgbClr val="ECF6F4"/>
          </a:solidFill>
          <a:ln w="14288">
            <a:solidFill>
              <a:srgbClr val="99D3C9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93198" y="242887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117C6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785" y="2557463"/>
            <a:ext cx="257175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93198" y="3095625"/>
            <a:ext cx="42461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37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975" dirty="0"/>
          </a:p>
        </p:txBody>
      </p:sp>
      <p:sp>
        <p:nvSpPr>
          <p:cNvPr id="20" name="Text 13"/>
          <p:cNvSpPr/>
          <p:nvPr/>
        </p:nvSpPr>
        <p:spPr>
          <a:xfrm>
            <a:off x="6893198" y="3433763"/>
            <a:ext cx="4246139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25" spc="-46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Ship it by spec</a:t>
            </a:r>
            <a:endParaRPr lang="en-US" sz="232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198" y="3962177"/>
            <a:ext cx="180975" cy="1809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88473" y="3947889"/>
            <a:ext cx="2051819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Plan, constrain, then build</a:t>
            </a:r>
            <a:endParaRPr lang="en-US" sz="13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198" y="4316462"/>
            <a:ext cx="180975" cy="1809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88473" y="4302175"/>
            <a:ext cx="213017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Tests &amp; types as guardrails</a:t>
            </a:r>
            <a:endParaRPr lang="en-US" sz="13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3198" y="4670747"/>
            <a:ext cx="180975" cy="1809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188473" y="4656460"/>
            <a:ext cx="216723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Best for production &amp; scale</a:t>
            </a:r>
            <a:endParaRPr lang="en-US" sz="13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9" name="Text 18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MAP OF THE 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10909554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spc="-98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modules, one arc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00100" y="2639318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2258318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295400" y="2196405"/>
            <a:ext cx="17590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Meet Claude Code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314950" y="2258318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min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362700" y="2639318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9" name="Text 7"/>
          <p:cNvSpPr/>
          <p:nvPr/>
        </p:nvSpPr>
        <p:spPr>
          <a:xfrm>
            <a:off x="6362700" y="2258318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0" y="2196405"/>
            <a:ext cx="2383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Spec-driven development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0877550" y="2258318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min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00100" y="3367980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986980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95400" y="2925068"/>
            <a:ext cx="19487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Vibe: building by feel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314950" y="2986980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min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362700" y="3367980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17" name="Text 15"/>
          <p:cNvSpPr/>
          <p:nvPr/>
        </p:nvSpPr>
        <p:spPr>
          <a:xfrm>
            <a:off x="6362700" y="2986980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858000" y="2925068"/>
            <a:ext cx="232834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Skills for Claude Code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0877550" y="2986980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min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800100" y="4096643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3715643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295400" y="3653730"/>
            <a:ext cx="164499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 &amp; tokens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314950" y="3715643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 min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362700" y="4096643"/>
            <a:ext cx="5029200" cy="9525"/>
          </a:xfrm>
          <a:prstGeom prst="rect">
            <a:avLst/>
          </a:prstGeom>
          <a:solidFill>
            <a:srgbClr val="DDD3C2"/>
          </a:solidFill>
          <a:ln/>
        </p:spPr>
      </p:sp>
      <p:sp>
        <p:nvSpPr>
          <p:cNvPr id="25" name="Text 23"/>
          <p:cNvSpPr/>
          <p:nvPr/>
        </p:nvSpPr>
        <p:spPr>
          <a:xfrm>
            <a:off x="6362700" y="3715643"/>
            <a:ext cx="400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858000" y="3653730"/>
            <a:ext cx="270263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Loops, tests &amp; your workflow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877550" y="3715643"/>
            <a:ext cx="5905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min</a:t>
            </a:r>
            <a:endParaRPr lang="en-US" sz="1125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666205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923505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Meet Claude Code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570884"/>
            <a:ext cx="706374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agent that lives in your terminal — it reads your code, makes the change, runs the command, with you in the loop the whole way.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01 · 45 min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01 · MENTAL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It's a teammate, not autocomplete.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reads the whole repo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5137614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Claude opens files, follows imports, and builds context before it edits anything.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63081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69748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611761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acts in your tools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921323"/>
            <a:ext cx="4692604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Edits files, runs tests, uses git — the same tools you'd reach for yourself.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60995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676626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590901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stay in the loop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900464"/>
            <a:ext cx="5100594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change is a diff you review. Nothing ships without your eyes on it.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571625"/>
          </a:xfrm>
          <a:prstGeom prst="roundRect">
            <a:avLst>
              <a:gd name="adj" fmla="val 10909"/>
            </a:avLst>
          </a:prstGeom>
          <a:solidFill>
            <a:srgbClr val="F5E4DA"/>
          </a:solidFill>
          <a:ln w="9525">
            <a:solidFill>
              <a:srgbClr val="EBC6B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833A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Stop asking "what prompt gets the answer." Start asking "what would I tell a sharp new teammate on day one."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953816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01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287191"/>
            <a:ext cx="4231499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Watch it ship a real change.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465909"/>
            <a:ext cx="423149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describe the outcome in plain language. Claude reads the codebase, makes the edit, and writes a test — you review the diff at the end.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546997"/>
            <a:ext cx="2585145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654153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642247"/>
            <a:ext cx="215652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checkout-service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972419"/>
            <a:ext cx="5912048" cy="2913162"/>
          </a:xfrm>
          <a:prstGeom prst="roundRect">
            <a:avLst>
              <a:gd name="adj" fmla="val 5885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981944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440037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153841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153841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153841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2105769"/>
            <a:ext cx="257256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~/checkout-service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659112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add a coupon field to checkout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5737027" y="2910036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6098381" y="2910036"/>
            <a:ext cx="401459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"add a coupon code field to checkout"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160961"/>
            <a:ext cx="5559629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Reading the checkout flow… I'll add the field, validation, and a test.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662809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edited src/Checkout.tsx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913733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added src/Checkout.test.tsx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416465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3 tests passing · ready to review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5737027" y="4415582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3" name="Shape 20"/>
          <p:cNvSpPr/>
          <p:nvPr/>
        </p:nvSpPr>
        <p:spPr>
          <a:xfrm>
            <a:off x="6098381" y="4415582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507406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764706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Vibe: building by feel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412084"/>
            <a:ext cx="7063740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Fast, conversational, exploratory. You discover the shape of the thing by building it out loud — and that's exactly the right move when the path is unknown.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02 · 50 min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02 · THE VIBE MODE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to vibe well.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111648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178323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092598"/>
            <a:ext cx="43447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Describe outcomes, not steps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402160"/>
            <a:ext cx="43447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Say what "done" looks like and let Claude choose the how.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2856012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922687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2836962"/>
            <a:ext cx="52031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Iterate in small loops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146524"/>
            <a:ext cx="52031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React to what you see. Nudge, undo, try again — it's cheap to explore.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360037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667051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3581326"/>
            <a:ext cx="49840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momentum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3890888"/>
            <a:ext cx="49840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While you're exploring, perfect is the enemy of moving. Refine later.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092598"/>
            <a:ext cx="4526235" cy="1571625"/>
          </a:xfrm>
          <a:prstGeom prst="roundRect">
            <a:avLst>
              <a:gd name="adj" fmla="val 10909"/>
            </a:avLst>
          </a:prstGeom>
          <a:solidFill>
            <a:srgbClr val="F5E4DA"/>
          </a:solidFill>
          <a:ln w="9525">
            <a:solidFill>
              <a:srgbClr val="EBC6B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359298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359298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833A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2635523"/>
            <a:ext cx="41322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Vibe is for unknowns — a new idea, an unfamiliar library, a throwaway spike. Don't over-spec what you don't yet understand.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953816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02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287191"/>
            <a:ext cx="4231499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Vibe a spike in minutes.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465909"/>
            <a:ext cx="423149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rules yet — just a goal and a conversation. We'll throw together a dashboard, look at it, and refine by feel.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546997"/>
            <a:ext cx="2808015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654153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642247"/>
            <a:ext cx="237939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throwaway prototype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846957"/>
            <a:ext cx="5912048" cy="3164086"/>
          </a:xfrm>
          <a:prstGeom prst="roundRect">
            <a:avLst>
              <a:gd name="adj" fmla="val 5419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856482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314575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028379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028379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028379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1980307"/>
            <a:ext cx="2104504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~/playground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533650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spike: a quick metrics view, no rules yet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5737027" y="2784574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6098381" y="2784574"/>
            <a:ext cx="401459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"a dashboard showing signups per day"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035498"/>
            <a:ext cx="5559629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it — a simple chart off the events table. We can refine after.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53734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 app/dashboard/page.tsx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788271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running at localhost:3000/dashboard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4039195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6098381" y="4039195"/>
            <a:ext cx="447078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"make the bars clay and round the corners"</a:t>
            </a:r>
            <a:endParaRPr lang="en-US" sz="1163" dirty="0"/>
          </a:p>
        </p:txBody>
      </p:sp>
      <p:sp>
        <p:nvSpPr>
          <p:cNvPr id="23" name="Text 20"/>
          <p:cNvSpPr/>
          <p:nvPr/>
        </p:nvSpPr>
        <p:spPr>
          <a:xfrm>
            <a:off x="5737027" y="4290120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Done. Want a date filter next?</a:t>
            </a:r>
            <a:endParaRPr lang="en-US" sz="1163" dirty="0"/>
          </a:p>
        </p:txBody>
      </p:sp>
      <p:sp>
        <p:nvSpPr>
          <p:cNvPr id="24" name="Text 21"/>
          <p:cNvSpPr/>
          <p:nvPr/>
        </p:nvSpPr>
        <p:spPr>
          <a:xfrm>
            <a:off x="5737027" y="4541044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6098381" y="4541044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507406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764706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Context &amp; tokens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412084"/>
            <a:ext cx="7063740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Everything Claude knows in a session lives in one context window. Manage it on purpose and your results get sharper, faster, and cheaper.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03 · 55 min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03 ·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context window is the desk, not the library.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447584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finite space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44758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Files, chat history, and tool output all share a single window.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42208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What's loaded shapes the answer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42208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Relevant context in, sharp answers out. Junk in, junk out.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140398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20707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121348"/>
            <a:ext cx="49583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fills up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430911"/>
            <a:ext cx="49583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Long sessions drift as the desk gets cluttered. Clear it deliberately.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571625"/>
          </a:xfrm>
          <a:prstGeom prst="roundRect">
            <a:avLst>
              <a:gd name="adj" fmla="val 10909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83745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Tokens are the unit of everything — input, output, and cost. Fewer, better tokens beats simply more tokens.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03 · TACTICS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Spend tokens where they earn their keep.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41637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 tightly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41637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Point Claude at the files that matter, not the whole repo.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Compact and reset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4772163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/compact and fresh sessions to clear stale context between tasks.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3751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441850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356125"/>
            <a:ext cx="45897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durable facts down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665687"/>
            <a:ext cx="45897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project rules in CLAUDE.md so you never re-explain them.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314450"/>
          </a:xfrm>
          <a:prstGeom prst="roundRect">
            <a:avLst>
              <a:gd name="adj" fmla="val 13043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short prompt with the right three files beats a giant prompt with the whole codebase pasted in.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2331839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03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665214"/>
            <a:ext cx="4231499" cy="522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See it, then shrink 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359348"/>
            <a:ext cx="423149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Inspect what's filling the window, then compact it — same conversation, a fraction of the tokens.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168973"/>
            <a:ext cx="2808015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276130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264223"/>
            <a:ext cx="237939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/context · /compact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846957"/>
            <a:ext cx="5912048" cy="3164086"/>
          </a:xfrm>
          <a:prstGeom prst="roundRect">
            <a:avLst>
              <a:gd name="adj" fmla="val 5419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856482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314575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028379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028379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028379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1980307"/>
            <a:ext cx="257256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~/checkout-service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533650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6098381" y="2533650"/>
            <a:ext cx="78492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5737027" y="2784574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42,500 / 200,000 tokens · 21% used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035498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◖ system + tools 8,200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286423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◖ open files 14,800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53734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◖ conversation 17,600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3788271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6098381" y="3788271"/>
            <a:ext cx="78492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endParaRPr lang="en-US" sz="1163" dirty="0"/>
          </a:p>
        </p:txBody>
      </p:sp>
      <p:sp>
        <p:nvSpPr>
          <p:cNvPr id="23" name="Text 20"/>
          <p:cNvSpPr/>
          <p:nvPr/>
        </p:nvSpPr>
        <p:spPr>
          <a:xfrm>
            <a:off x="5737027" y="4039195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Summarizing the thread, dropping stale file reads…</a:t>
            </a:r>
            <a:endParaRPr lang="en-US" sz="1163" dirty="0"/>
          </a:p>
        </p:txBody>
      </p:sp>
      <p:sp>
        <p:nvSpPr>
          <p:cNvPr id="24" name="Text 21"/>
          <p:cNvSpPr/>
          <p:nvPr/>
        </p:nvSpPr>
        <p:spPr>
          <a:xfrm>
            <a:off x="5737027" y="4290120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compacted · 42,500 → 9,300 tokens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5737027" y="4541044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6" name="Shape 23"/>
          <p:cNvSpPr/>
          <p:nvPr/>
        </p:nvSpPr>
        <p:spPr>
          <a:xfrm>
            <a:off x="6098381" y="4541044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666205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923505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Spec-driven development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570884"/>
            <a:ext cx="706374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the plan, the constraints, and the tests first — then drive Claude precisely. This is how you hand off real autonomy and trust the result.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04 · 60 min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04 · SPEC-DRIVEN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good spec makes the agent unstoppable.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40868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State the goal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408686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clear outcome, in plain language, before any code.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39055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List the constraints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39055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Edge cases, data shapes, and what must not change.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140398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20707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121348"/>
            <a:ext cx="4729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the tests first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430911"/>
            <a:ext cx="4729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 failing tests define done — then let Claude make them pass.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314450"/>
          </a:xfrm>
          <a:prstGeom prst="roundRect">
            <a:avLst>
              <a:gd name="adj" fmla="val 13043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narrower the spec, the more autonomy you can safely hand the agent. Constrain first, then let go.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2196108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04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529483"/>
            <a:ext cx="4231499" cy="522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plan to green.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223617"/>
            <a:ext cx="423149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spec lives in a plan file with the tests already written. Claude implements only what's needed to make them pass — nothing more.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304705"/>
            <a:ext cx="2511103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411861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399955"/>
            <a:ext cx="208247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PLAN.md → tests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972419"/>
            <a:ext cx="5912048" cy="2913162"/>
          </a:xfrm>
          <a:prstGeom prst="roundRect">
            <a:avLst>
              <a:gd name="adj" fmla="val 5885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981944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440037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153841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153841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153841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2105769"/>
            <a:ext cx="22604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~/rate-limiter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659112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PLAN.md: goal, constraints, 6 tests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5737027" y="2910036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6098381" y="2910036"/>
            <a:ext cx="4288294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"implement PLAN.md; make the tests pass"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160961"/>
            <a:ext cx="5559629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the plan. 6 tests defined. Implementing the limiter now.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662809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edited src/rateLimiter.ts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913733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E7C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⏳ running test suite…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416465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6/6 passing · within spec, no extra changes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5737027" y="4415582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3" name="Shape 20"/>
          <p:cNvSpPr/>
          <p:nvPr/>
        </p:nvSpPr>
        <p:spPr>
          <a:xfrm>
            <a:off x="6098381" y="4415582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666205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923505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 Skills for Claude Code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570884"/>
            <a:ext cx="706374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Reusable folders of instructions and assets that teach Claude how you do a specific job — loaded only when the task calls for them.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05 · 60 min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05 · AI SKILLS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Teach Claude once. Reuse it everywhere.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50401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folder Claude can open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50401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SKILL.md plus any scripts, templates, or references the job needs.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Loaded on demand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4718511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Claude reaches for the skill only when the task calls for it — no context tax otherwise.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3751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441850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356125"/>
            <a:ext cx="504234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Shareable by default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665687"/>
            <a:ext cx="50423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Check skills into your repo so the whole team gets the same expert.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314450"/>
          </a:xfrm>
          <a:prstGeom prst="roundRect">
            <a:avLst>
              <a:gd name="adj" fmla="val 13043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Anything you find yourself explaining to Claude more than twice is a candidate for a Skill.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05 · AI SKILLS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Name, description, and progressive detail.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52271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 matter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5197321" cy="48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name and one-line description tell Claude exactly when to reach for it.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63081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69748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611761"/>
            <a:ext cx="45065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Plain-language instructions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921323"/>
            <a:ext cx="45065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body is how-to in the same words you'd tell a teammate.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3751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441850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356125"/>
            <a:ext cx="50720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Bundled assets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665687"/>
            <a:ext cx="5072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Scripts, templates, and examples live beside it and load only if used.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571625"/>
          </a:xfrm>
          <a:prstGeom prst="roundRect">
            <a:avLst>
              <a:gd name="adj" fmla="val 10909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9370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TIES BACK TO MODULE 03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Skills use progressive disclosure: a short description up front, the full detail only when invoked. That's token management built in.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953816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05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287191"/>
            <a:ext cx="4231499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Skill, picked up automatically.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465909"/>
            <a:ext cx="423149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repo ships a "changelog" skill. We just ask for release notes — Claude recognizes the job and loads it, in our house format.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546997"/>
            <a:ext cx="2585145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654153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642247"/>
            <a:ext cx="215652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skills/changelog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972419"/>
            <a:ext cx="5912048" cy="2913162"/>
          </a:xfrm>
          <a:prstGeom prst="roundRect">
            <a:avLst>
              <a:gd name="adj" fmla="val 5885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981944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440037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153841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153841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153841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2105769"/>
            <a:ext cx="257256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~/checkout-service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659112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skills/ is checked into the repo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5737027" y="2910036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6098381" y="2910036"/>
            <a:ext cx="4288294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"draft release notes for this milestone"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160961"/>
            <a:ext cx="5559629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looks like a job for the 'changelog' skill — loading it.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662809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 skill changelog (SKILL.md + template)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913733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wrote CHANGELOG.md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416465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release notes drafted in our house format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5737027" y="4415582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3" name="Shape 20"/>
          <p:cNvSpPr/>
          <p:nvPr/>
        </p:nvSpPr>
        <p:spPr>
          <a:xfrm>
            <a:off x="6098381" y="4415582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A5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22860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807244"/>
            <a:ext cx="1951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&amp; SPEC · WORKSHOP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651778" y="800100"/>
            <a:ext cx="81632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58" kern="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06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00100" y="1666205"/>
            <a:ext cx="1090955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spc="-186" kern="0" dirty="0">
                <a:solidFill>
                  <a:srgbClr val="EBC6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800100" y="2923505"/>
            <a:ext cx="10909554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50" spc="-139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Loops, tests &amp; your workflow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800100" y="4570884"/>
            <a:ext cx="706374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agent honest, then wire it all into a rhythm you can take back to your own codebase tomorrow.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00100" y="5857875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06 · 50 min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06 · 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Trust the loop, verify the diff.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42171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Tests are the contract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42171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Green tests, not vibes, tell you a change is actually done.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45002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Review every diff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45002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 what changed. You own the code — the model doesn't.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140398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20707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121348"/>
            <a:ext cx="42810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Automate the guardrails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430911"/>
            <a:ext cx="42810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Lint, types, and hooks catch what a tired reviewer misses.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314450"/>
          </a:xfrm>
          <a:prstGeom prst="roundRect">
            <a:avLst>
              <a:gd name="adj" fmla="val 13043"/>
            </a:avLst>
          </a:prstGeom>
          <a:solidFill>
            <a:srgbClr val="ECF6F4"/>
          </a:solidFill>
          <a:ln w="9525">
            <a:solidFill>
              <a:srgbClr val="99D3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0912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0A4E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COACH'S NOTE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Autonomy and verification rise together. The more you can check, the more you can safely hand off.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953816"/>
            <a:ext cx="4231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A54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06 · 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2287191"/>
            <a:ext cx="4231499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spc="-90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Red, then green, on purpose.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0100" y="3465909"/>
            <a:ext cx="423149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Ask for the failing test first. Watch it fail, then watch Claude close the loop — the whole change pinned by a test.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800100" y="4546997"/>
            <a:ext cx="2139330" cy="357188"/>
          </a:xfrm>
          <a:prstGeom prst="roundRect">
            <a:avLst>
              <a:gd name="adj" fmla="val 50000"/>
            </a:avLst>
          </a:prstGeom>
          <a:solidFill>
            <a:srgbClr val="F6F2EA"/>
          </a:solidFill>
          <a:ln w="9525">
            <a:solidFill>
              <a:srgbClr val="DDD3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4654153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2050" y="4642247"/>
            <a:ext cx="171070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D3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· test-first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5479852" y="1972419"/>
            <a:ext cx="5912048" cy="2913162"/>
          </a:xfrm>
          <a:prstGeom prst="roundRect">
            <a:avLst>
              <a:gd name="adj" fmla="val 5885"/>
            </a:avLst>
          </a:prstGeom>
          <a:solidFill>
            <a:srgbClr val="232017"/>
          </a:solidFill>
          <a:ln w="9525">
            <a:solidFill>
              <a:srgbClr val="3D3729"/>
            </a:solidFill>
            <a:prstDash val="solid"/>
          </a:ln>
          <a:effectLst>
            <a:outerShdw sx="100000" sy="100000" kx="0" ky="0" algn="bl" rotWithShape="0" blurRad="476250" dist="190500" dir="5400000">
              <a:srgbClr val="1B181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9377" y="1981944"/>
            <a:ext cx="5892998" cy="467618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9377" y="2440037"/>
            <a:ext cx="5892998" cy="9525"/>
          </a:xfrm>
          <a:prstGeom prst="rect">
            <a:avLst/>
          </a:prstGeom>
          <a:solidFill>
            <a:srgbClr val="3D37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827" y="2153841"/>
            <a:ext cx="114300" cy="114300"/>
          </a:xfrm>
          <a:prstGeom prst="ellipse">
            <a:avLst/>
          </a:prstGeom>
          <a:solidFill>
            <a:srgbClr val="D07A57"/>
          </a:solidFill>
          <a:ln/>
        </p:spPr>
      </p:sp>
      <p:sp>
        <p:nvSpPr>
          <p:cNvPr id="12" name="Shape 9"/>
          <p:cNvSpPr/>
          <p:nvPr/>
        </p:nvSpPr>
        <p:spPr>
          <a:xfrm>
            <a:off x="5860852" y="2153841"/>
            <a:ext cx="114300" cy="114300"/>
          </a:xfrm>
          <a:prstGeom prst="ellipse">
            <a:avLst/>
          </a:prstGeom>
          <a:solidFill>
            <a:srgbClr val="C286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0877" y="2153841"/>
            <a:ext cx="114300" cy="114300"/>
          </a:xfrm>
          <a:prstGeom prst="ellipse">
            <a:avLst/>
          </a:prstGeom>
          <a:solidFill>
            <a:srgbClr val="2E95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37102" y="2105769"/>
            <a:ext cx="257256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— ~/checkout-service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737027" y="2659112"/>
            <a:ext cx="34230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6098381" y="2659112"/>
            <a:ext cx="5187434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F6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"failing test for empty-cart checkout, then fix it"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5737027" y="3160961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Added a test expecting a friendly error. It fails — good.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5737027" y="3411885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E7C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1 failing · CartEmptyError not thrown</a:t>
            </a:r>
            <a:endParaRPr lang="en-US" sz="1163" dirty="0"/>
          </a:p>
        </p:txBody>
      </p:sp>
      <p:sp>
        <p:nvSpPr>
          <p:cNvPr id="19" name="Text 16"/>
          <p:cNvSpPr/>
          <p:nvPr/>
        </p:nvSpPr>
        <p:spPr>
          <a:xfrm>
            <a:off x="5737027" y="3662809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E9E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 implementing the guard to make it pass.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5737027" y="3913733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DDD3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edited src/Checkout.tsx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5737027" y="4164657"/>
            <a:ext cx="555962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7FD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1 failing → 0 failing · loop closed</a:t>
            </a:r>
            <a:endParaRPr lang="en-US" sz="1163" dirty="0"/>
          </a:p>
        </p:txBody>
      </p:sp>
      <p:sp>
        <p:nvSpPr>
          <p:cNvPr id="22" name="Text 19"/>
          <p:cNvSpPr/>
          <p:nvPr/>
        </p:nvSpPr>
        <p:spPr>
          <a:xfrm>
            <a:off x="5737027" y="4415582"/>
            <a:ext cx="34230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63" dirty="0">
                <a:solidFill>
                  <a:srgbClr val="5DB6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❯</a:t>
            </a:r>
            <a:endParaRPr lang="en-US" sz="1163" dirty="0"/>
          </a:p>
        </p:txBody>
      </p:sp>
      <p:sp>
        <p:nvSpPr>
          <p:cNvPr id="23" name="Shape 20"/>
          <p:cNvSpPr/>
          <p:nvPr/>
        </p:nvSpPr>
        <p:spPr>
          <a:xfrm>
            <a:off x="6098381" y="4415582"/>
            <a:ext cx="85725" cy="155004"/>
          </a:xfrm>
          <a:prstGeom prst="rect">
            <a:avLst/>
          </a:prstGeom>
          <a:solidFill>
            <a:srgbClr val="D07A57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0909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0C64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06 · PUTTING IT TOGETHER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00100" y="1133475"/>
            <a:ext cx="63927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spc="-101" kern="0" dirty="0">
                <a:solidFill>
                  <a:srgbClr val="1B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Vibe to find it. Spec to ship it.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00100" y="2651671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718346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2632621"/>
            <a:ext cx="499236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Explore by feel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57300" y="2942183"/>
            <a:ext cx="49923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Vibe a spike until you understand the problem you're really solving.</a:t>
            </a:r>
            <a:endParaRPr lang="en-US" sz="1275" dirty="0"/>
          </a:p>
        </p:txBody>
      </p:sp>
      <p:sp>
        <p:nvSpPr>
          <p:cNvPr id="8" name="Shape 5"/>
          <p:cNvSpPr/>
          <p:nvPr/>
        </p:nvSpPr>
        <p:spPr>
          <a:xfrm>
            <a:off x="800100" y="339603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6271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300" y="3376985"/>
            <a:ext cx="4215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Capture the spec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1257300" y="3686547"/>
            <a:ext cx="42154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Turn what you learned into a plan, constraints, and tests.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800100" y="4140398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BE9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20707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300" y="4121348"/>
            <a:ext cx="384152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B181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Hand off and verify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1257300" y="4430911"/>
            <a:ext cx="38415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C544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 Claude drive to green while you review the diffs.</a:t>
            </a:r>
            <a:endParaRPr lang="en-US" sz="1275" dirty="0"/>
          </a:p>
        </p:txBody>
      </p:sp>
      <p:sp>
        <p:nvSpPr>
          <p:cNvPr id="16" name="Shape 11"/>
          <p:cNvSpPr/>
          <p:nvPr/>
        </p:nvSpPr>
        <p:spPr>
          <a:xfrm>
            <a:off x="6865590" y="2632621"/>
            <a:ext cx="4526235" cy="1314450"/>
          </a:xfrm>
          <a:prstGeom prst="roundRect">
            <a:avLst>
              <a:gd name="adj" fmla="val 13043"/>
            </a:avLst>
          </a:prstGeom>
          <a:solidFill>
            <a:srgbClr val="F5E4DA"/>
          </a:solidFill>
          <a:ln w="9525">
            <a:solidFill>
              <a:srgbClr val="EBC6B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65" y="2899321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365" y="2899321"/>
            <a:ext cx="117581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26" kern="0" dirty="0">
                <a:solidFill>
                  <a:srgbClr val="833A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ONE THING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122765" y="3175546"/>
            <a:ext cx="413224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9241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Switch modes on purpose. The skill isn't vibe or spec — it's knowing which one the moment needs.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11505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23950" y="6146006"/>
            <a:ext cx="130455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11238309" y="6136481"/>
            <a:ext cx="229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0" kern="0" dirty="0">
                <a:solidFill>
                  <a:srgbClr val="8077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00100"/>
            <a:ext cx="419100" cy="419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0600" y="1701403"/>
            <a:ext cx="9810750" cy="2455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900" spc="-58" kern="0" dirty="0">
                <a:solidFill>
                  <a:srgbClr val="D07A5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 </a:t>
            </a:r>
            <a:pPr algn="l" indent="0" marL="0">
              <a:lnSpc>
                <a:spcPct val="122000"/>
              </a:lnSpc>
              <a:buNone/>
            </a:pPr>
            <a:r>
              <a:rPr lang="en-US" sz="3900" spc="-58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 came in able to prompt my way to a demo. I left able to ship a feature to production — spec, tests, and review — without babysitting every line. </a:t>
            </a:r>
            <a:pPr algn="l" indent="0" marL="0">
              <a:lnSpc>
                <a:spcPct val="122000"/>
              </a:lnSpc>
              <a:buNone/>
            </a:pPr>
            <a:r>
              <a:rPr lang="en-US" sz="3900" spc="-58" kern="0" dirty="0">
                <a:solidFill>
                  <a:srgbClr val="D07A5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”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990600" y="4613672"/>
            <a:ext cx="9810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CF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Priya N.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90600" y="4956572"/>
            <a:ext cx="9810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42" kern="0" dirty="0">
                <a:solidFill>
                  <a:srgbClr val="A69C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Staff Engineer · Cohort 14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6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-571500" y="3397300"/>
            <a:ext cx="7239000" cy="4222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800100"/>
            <a:ext cx="438150" cy="4381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919162"/>
            <a:ext cx="16551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47" kern="0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 VIBE &amp; SPEC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800100" y="2288902"/>
            <a:ext cx="109095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180" kern="0" dirty="0">
                <a:solidFill>
                  <a:srgbClr val="CBE9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THAT'S A WRAP</a:t>
            </a:r>
            <a:endParaRPr lang="en-US" sz="1125" dirty="0"/>
          </a:p>
        </p:txBody>
      </p:sp>
      <p:sp>
        <p:nvSpPr>
          <p:cNvPr id="6" name="Text 2"/>
          <p:cNvSpPr/>
          <p:nvPr/>
        </p:nvSpPr>
        <p:spPr>
          <a:xfrm>
            <a:off x="800100" y="2693715"/>
            <a:ext cx="1090955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207" kern="0" dirty="0">
                <a:solidFill>
                  <a:srgbClr val="FCFBF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Now go build.</a:t>
            </a:r>
            <a:endParaRPr lang="en-US" sz="6900" dirty="0"/>
          </a:p>
        </p:txBody>
      </p:sp>
      <p:sp>
        <p:nvSpPr>
          <p:cNvPr id="7" name="Text 3"/>
          <p:cNvSpPr/>
          <p:nvPr/>
        </p:nvSpPr>
        <p:spPr>
          <a:xfrm>
            <a:off x="800100" y="3798615"/>
            <a:ext cx="6867525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You've got the moves — vibe to explore, spec to ship, and the token sense to do both well. Take them back to your codebase tomorrow.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5865019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66800" y="5853113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CFB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ubervibeandspec.com</a:t>
            </a:r>
            <a:endParaRPr lang="en-US" sz="11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525" y="5865019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24225" y="5853113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CFB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hello@ubervibeandspec.com</a:t>
            </a:r>
            <a:endParaRPr lang="en-US" sz="11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5865019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96000" y="585311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CFB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/ubervibeandspec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2026-06-07T01:10:00Z</dcterms:created>
  <dcterms:modified xsi:type="dcterms:W3CDTF">2026-06-07T01:10:00Z</dcterms:modified>
</cp:coreProperties>
</file>